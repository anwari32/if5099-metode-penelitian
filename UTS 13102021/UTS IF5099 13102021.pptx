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900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CF069-9B04-4982-8CF5-58EB3F2EA7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51E4E8-A4AD-4378-8EFD-146187299B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2D756-FD59-4FDB-8A8F-01A22B920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538AB-65BB-46C8-A4FC-8440DFEF8E9B}" type="datetimeFigureOut">
              <a:rPr lang="en-US" smtClean="0"/>
              <a:t>10/13/2021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E71BE4-D5B0-41FA-88F4-C8FAF2C7B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174695-0AB5-46D5-8EAF-0FC3714F9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17F47-A2CD-4671-BAB3-92B8BDC27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070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525C5-DDC2-4A90-B543-2779112CE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21ABE-F1F8-403E-9876-9552267652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69F8DC-C333-419E-B18A-09E30EBFC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538AB-65BB-46C8-A4FC-8440DFEF8E9B}" type="datetimeFigureOut">
              <a:rPr lang="en-US" smtClean="0"/>
              <a:t>10/13/2021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E66F1-8451-48CE-843A-3A6291185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5001C-FCA3-4A61-BEB6-B08BB164D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17F47-A2CD-4671-BAB3-92B8BDC27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305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5E7E8-F689-46E0-965D-96F44906E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80C2C3-6263-49B3-807B-9554958A99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C0A62-3232-4F59-B77B-48635EAD6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538AB-65BB-46C8-A4FC-8440DFEF8E9B}" type="datetimeFigureOut">
              <a:rPr lang="en-US" smtClean="0"/>
              <a:t>10/13/2021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B3AACA-7DCF-4E84-844A-AD742CEBB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D5066-95C6-48B6-93BA-F829BC8D6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17F47-A2CD-4671-BAB3-92B8BDC27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370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868EC-AF54-442F-A6F9-DF833109C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829BE-4EE8-44B8-81FB-6134C86EBB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9CDB7E-8FB9-4CE6-8565-33CDA87EDB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9BE96-77E7-488B-91E0-E661B7D87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538AB-65BB-46C8-A4FC-8440DFEF8E9B}" type="datetimeFigureOut">
              <a:rPr lang="en-US" smtClean="0"/>
              <a:t>10/13/2021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3E25B-F799-40A5-BDA9-B07C8788A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0EC229-D15A-4BD9-89F1-D828C0018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17F47-A2CD-4671-BAB3-92B8BDC27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330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F667C-B3A1-49AC-91F8-EABF6FAE4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EE7F2A-AAF5-4036-BA76-F109B8DDD7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B7AEF3-4817-42B2-8BB0-9D2734BB56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6DDA88-284B-4308-A287-D8BED3BA79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96A82A-8345-4734-9CB2-D1D2542F9D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E16D05-DE36-4DF6-9F1F-BD0357A59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538AB-65BB-46C8-A4FC-8440DFEF8E9B}" type="datetimeFigureOut">
              <a:rPr lang="en-US" smtClean="0"/>
              <a:t>10/13/2021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B8CB0C-24B2-4575-A111-14276DB0C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49DE63-F61A-4991-B0B8-6530C61F8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17F47-A2CD-4671-BAB3-92B8BDC27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540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43B5E-DF5C-452B-9FBD-C6C704D9E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29CA69-4C87-4618-A6CE-ED8BF46F1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538AB-65BB-46C8-A4FC-8440DFEF8E9B}" type="datetimeFigureOut">
              <a:rPr lang="en-US" smtClean="0"/>
              <a:t>10/13/2021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A3E452-3E5E-43E9-A262-C9F913AE2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81DE9-F22B-42A2-AC1F-0AC0187BC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17F47-A2CD-4671-BAB3-92B8BDC27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113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19C5D5-756B-40BA-A49C-EF78CABBB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538AB-65BB-46C8-A4FC-8440DFEF8E9B}" type="datetimeFigureOut">
              <a:rPr lang="en-US" smtClean="0"/>
              <a:t>10/13/2021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63EE10-9BEE-4AE8-B3E6-D71EB751E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3BF361-AB07-4CD2-8205-C6D3E0BBD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17F47-A2CD-4671-BAB3-92B8BDC27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131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4BEF8-8C2A-487A-94F2-05B4FD6A0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613BB-37C6-4954-A21E-39D783749F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224003-3B9B-4238-AE25-137B4915DB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BE6D77-6102-4C38-9EF5-8C8550F65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538AB-65BB-46C8-A4FC-8440DFEF8E9B}" type="datetimeFigureOut">
              <a:rPr lang="en-US" smtClean="0"/>
              <a:t>10/13/2021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55B812-5FFD-40DB-BE15-CAF0315F2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71C3CA-547F-4F02-809C-72FD3EF97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17F47-A2CD-4671-BAB3-92B8BDC27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939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FFCA8-EC67-4437-A1B2-FDB17BF9B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9B775C-2063-4A6C-9EE4-28A8DE9D94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C5F04-33FB-45BF-9100-1F924CBEBE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B24934-2C9F-46C7-96A1-B88A6189B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538AB-65BB-46C8-A4FC-8440DFEF8E9B}" type="datetimeFigureOut">
              <a:rPr lang="en-US" smtClean="0"/>
              <a:t>10/13/2021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8602E7-D045-42E2-98AE-81C7C40F4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EC0122-30BA-44FA-8A55-85A8F734B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17F47-A2CD-4671-BAB3-92B8BDC27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503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C921B-E1BC-4FDF-B860-51805CC67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576F98-10CA-4896-8E88-A6BE818C8F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4CC6E-EC4A-4F15-85EE-43C920420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538AB-65BB-46C8-A4FC-8440DFEF8E9B}" type="datetimeFigureOut">
              <a:rPr lang="en-US" smtClean="0"/>
              <a:t>10/13/2021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DC5316-E600-4E34-8E92-7F490735D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5E2CC3-EB1D-4412-BB43-A8914E97E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17F47-A2CD-4671-BAB3-92B8BDC27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21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724BAC-17FC-447B-A8C6-3B72F62884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E220C9-7571-4FC0-A48D-73D0C4F669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41F2E1-ED6B-4BFC-9C8B-20E6223AC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538AB-65BB-46C8-A4FC-8440DFEF8E9B}" type="datetimeFigureOut">
              <a:rPr lang="en-US" smtClean="0"/>
              <a:t>10/13/2021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8138A-828D-427C-9FD5-2708E1E57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D3B96E-2B26-4F0D-9011-3E49B3AA6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17F47-A2CD-4671-BAB3-92B8BDC27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390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9D2CC2-6BE1-45C6-BD07-D7CAEA35F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587871-5B37-4C09-B917-8403D54C23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1C817-82D5-456D-BBCD-BA17A0B845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3538AB-65BB-46C8-A4FC-8440DFEF8E9B}" type="datetimeFigureOut">
              <a:rPr lang="en-US" smtClean="0"/>
              <a:t>10/13/2021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CBB28B-1004-45DE-8F3C-E1B3378A0E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C7FD5-5B73-4C10-BA63-09229171DF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517F47-A2CD-4671-BAB3-92B8BDC27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207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408DA-030B-4FF3-B67B-B2BEE7B67D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1C372A-EBA4-42F5-9B50-C7C97DA54B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569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8E92FEC6-F332-4216-A165-1848F66DCDB9}"/>
              </a:ext>
            </a:extLst>
          </p:cNvPr>
          <p:cNvSpPr/>
          <p:nvPr/>
        </p:nvSpPr>
        <p:spPr>
          <a:xfrm>
            <a:off x="3203192" y="2668567"/>
            <a:ext cx="2954215" cy="1200329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err="1">
                <a:solidFill>
                  <a:schemeClr val="tx1"/>
                </a:solidFill>
              </a:rPr>
              <a:t>Judul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Topik</a:t>
            </a:r>
            <a:r>
              <a:rPr lang="en-GB" sz="1200" dirty="0">
                <a:solidFill>
                  <a:schemeClr val="tx1"/>
                </a:solidFill>
              </a:rPr>
              <a:t>: </a:t>
            </a:r>
            <a:r>
              <a:rPr lang="en-GB" sz="1200" dirty="0" err="1">
                <a:solidFill>
                  <a:schemeClr val="tx1"/>
                </a:solidFill>
              </a:rPr>
              <a:t>Penggunaan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Arsitektur</a:t>
            </a:r>
            <a:r>
              <a:rPr lang="en-GB" sz="1200" dirty="0">
                <a:solidFill>
                  <a:schemeClr val="tx1"/>
                </a:solidFill>
              </a:rPr>
              <a:t> Model BERT </a:t>
            </a:r>
            <a:r>
              <a:rPr lang="en-GB" sz="1200" dirty="0" err="1">
                <a:solidFill>
                  <a:schemeClr val="tx1"/>
                </a:solidFill>
              </a:rPr>
              <a:t>untuk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Menghasilkan</a:t>
            </a:r>
            <a:r>
              <a:rPr lang="en-GB" sz="1200" dirty="0">
                <a:solidFill>
                  <a:schemeClr val="tx1"/>
                </a:solidFill>
              </a:rPr>
              <a:t> Model </a:t>
            </a:r>
            <a:r>
              <a:rPr lang="en-GB" sz="1200" dirty="0" err="1">
                <a:solidFill>
                  <a:schemeClr val="tx1"/>
                </a:solidFill>
              </a:rPr>
              <a:t>Generik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dari</a:t>
            </a:r>
            <a:r>
              <a:rPr lang="en-GB" sz="1200" dirty="0">
                <a:solidFill>
                  <a:schemeClr val="tx1"/>
                </a:solidFill>
              </a:rPr>
              <a:t> Data </a:t>
            </a:r>
            <a:r>
              <a:rPr lang="en-GB" sz="1200" dirty="0" err="1">
                <a:solidFill>
                  <a:schemeClr val="tx1"/>
                </a:solidFill>
              </a:rPr>
              <a:t>Genetik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Bakteri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CC8120-1B33-459F-B9E7-8515DF010900}"/>
              </a:ext>
            </a:extLst>
          </p:cNvPr>
          <p:cNvSpPr/>
          <p:nvPr/>
        </p:nvSpPr>
        <p:spPr>
          <a:xfrm>
            <a:off x="6842931" y="2811531"/>
            <a:ext cx="2889456" cy="914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GB" sz="1200" dirty="0" err="1">
                <a:solidFill>
                  <a:schemeClr val="tx1"/>
                </a:solidFill>
              </a:rPr>
              <a:t>Tujuan</a:t>
            </a:r>
            <a:r>
              <a:rPr lang="en-GB" sz="1200" dirty="0">
                <a:solidFill>
                  <a:schemeClr val="tx1"/>
                </a:solidFill>
              </a:rPr>
              <a:t>: </a:t>
            </a:r>
            <a:r>
              <a:rPr lang="en-GB" sz="1200" dirty="0" err="1">
                <a:solidFill>
                  <a:schemeClr val="tx1"/>
                </a:solidFill>
              </a:rPr>
              <a:t>Menghasilkan</a:t>
            </a:r>
            <a:r>
              <a:rPr lang="en-GB" sz="1200" dirty="0">
                <a:solidFill>
                  <a:schemeClr val="tx1"/>
                </a:solidFill>
              </a:rPr>
              <a:t> model </a:t>
            </a:r>
            <a:r>
              <a:rPr lang="en-GB" sz="1200" dirty="0" err="1">
                <a:solidFill>
                  <a:schemeClr val="tx1"/>
                </a:solidFill>
              </a:rPr>
              <a:t>generik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dengan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arsitektur</a:t>
            </a:r>
            <a:r>
              <a:rPr lang="en-GB" sz="1200" dirty="0">
                <a:solidFill>
                  <a:schemeClr val="tx1"/>
                </a:solidFill>
              </a:rPr>
              <a:t> BERT yang </a:t>
            </a:r>
            <a:r>
              <a:rPr lang="en-GB" sz="1200" dirty="0" err="1">
                <a:solidFill>
                  <a:schemeClr val="tx1"/>
                </a:solidFill>
              </a:rPr>
              <a:t>dapat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digunakan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untuk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memproses</a:t>
            </a:r>
            <a:r>
              <a:rPr lang="en-GB" sz="1200" dirty="0">
                <a:solidFill>
                  <a:schemeClr val="tx1"/>
                </a:solidFill>
              </a:rPr>
              <a:t> data </a:t>
            </a:r>
            <a:r>
              <a:rPr lang="en-GB" sz="1200" dirty="0" err="1">
                <a:solidFill>
                  <a:schemeClr val="tx1"/>
                </a:solidFill>
              </a:rPr>
              <a:t>genetik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dari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berbagai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bakteri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0327CB-A7FB-4030-9860-CE966ABFC3C0}"/>
              </a:ext>
            </a:extLst>
          </p:cNvPr>
          <p:cNvSpPr/>
          <p:nvPr/>
        </p:nvSpPr>
        <p:spPr>
          <a:xfrm>
            <a:off x="3199840" y="370226"/>
            <a:ext cx="2954215" cy="15746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GB" sz="1200" dirty="0" err="1">
                <a:solidFill>
                  <a:schemeClr val="tx1"/>
                </a:solidFill>
              </a:rPr>
              <a:t>Studi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literatur</a:t>
            </a:r>
            <a:r>
              <a:rPr lang="en-GB" sz="1200" dirty="0">
                <a:solidFill>
                  <a:schemeClr val="tx1"/>
                </a:solidFill>
              </a:rPr>
              <a:t>: (1) Data </a:t>
            </a:r>
            <a:r>
              <a:rPr lang="en-GB" sz="1200" dirty="0" err="1">
                <a:solidFill>
                  <a:schemeClr val="tx1"/>
                </a:solidFill>
              </a:rPr>
              <a:t>genetik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memiliki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pola</a:t>
            </a:r>
            <a:r>
              <a:rPr lang="en-GB" sz="1200" dirty="0">
                <a:solidFill>
                  <a:schemeClr val="tx1"/>
                </a:solidFill>
              </a:rPr>
              <a:t>/</a:t>
            </a:r>
            <a:r>
              <a:rPr lang="en-GB" sz="1200" i="1" dirty="0">
                <a:solidFill>
                  <a:schemeClr val="tx1"/>
                </a:solidFill>
              </a:rPr>
              <a:t>grammar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layaknya</a:t>
            </a:r>
            <a:r>
              <a:rPr lang="en-GB" sz="1200" dirty="0">
                <a:solidFill>
                  <a:schemeClr val="tx1"/>
                </a:solidFill>
              </a:rPr>
              <a:t> Bahasa (</a:t>
            </a:r>
            <a:r>
              <a:rPr lang="en-GB" sz="1200" dirty="0" err="1">
                <a:solidFill>
                  <a:schemeClr val="tx1"/>
                </a:solidFill>
              </a:rPr>
              <a:t>Iuchi</a:t>
            </a:r>
            <a:r>
              <a:rPr lang="en-GB" sz="1200" dirty="0">
                <a:solidFill>
                  <a:schemeClr val="tx1"/>
                </a:solidFill>
              </a:rPr>
              <a:t> et. al., 2021); (2) DNA-BERT </a:t>
            </a:r>
            <a:r>
              <a:rPr lang="en-GB" sz="1200" dirty="0" err="1">
                <a:solidFill>
                  <a:schemeClr val="tx1"/>
                </a:solidFill>
              </a:rPr>
              <a:t>adalah</a:t>
            </a:r>
            <a:r>
              <a:rPr lang="en-GB" sz="1200" dirty="0">
                <a:solidFill>
                  <a:schemeClr val="tx1"/>
                </a:solidFill>
              </a:rPr>
              <a:t> model BERT yang </a:t>
            </a:r>
            <a:r>
              <a:rPr lang="en-GB" sz="1200" dirty="0" err="1">
                <a:solidFill>
                  <a:schemeClr val="tx1"/>
                </a:solidFill>
              </a:rPr>
              <a:t>dapat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memproses</a:t>
            </a:r>
            <a:r>
              <a:rPr lang="en-GB" sz="1200" dirty="0">
                <a:solidFill>
                  <a:schemeClr val="tx1"/>
                </a:solidFill>
              </a:rPr>
              <a:t> DNA </a:t>
            </a:r>
            <a:r>
              <a:rPr lang="en-GB" sz="1200" dirty="0" err="1">
                <a:solidFill>
                  <a:schemeClr val="tx1"/>
                </a:solidFill>
              </a:rPr>
              <a:t>manusia</a:t>
            </a:r>
            <a:r>
              <a:rPr lang="en-GB" sz="1200" dirty="0">
                <a:solidFill>
                  <a:schemeClr val="tx1"/>
                </a:solidFill>
              </a:rPr>
              <a:t> dan </a:t>
            </a:r>
            <a:r>
              <a:rPr lang="en-GB" sz="1200" dirty="0" err="1">
                <a:solidFill>
                  <a:schemeClr val="tx1"/>
                </a:solidFill>
              </a:rPr>
              <a:t>tikus</a:t>
            </a:r>
            <a:r>
              <a:rPr lang="en-GB" sz="1200" dirty="0">
                <a:solidFill>
                  <a:schemeClr val="tx1"/>
                </a:solidFill>
              </a:rPr>
              <a:t>. (3) </a:t>
            </a:r>
            <a:r>
              <a:rPr lang="en-GB" sz="1200" dirty="0" err="1">
                <a:solidFill>
                  <a:schemeClr val="tx1"/>
                </a:solidFill>
              </a:rPr>
              <a:t>Prediksi</a:t>
            </a:r>
            <a:r>
              <a:rPr lang="en-GB" sz="1200" dirty="0">
                <a:solidFill>
                  <a:schemeClr val="tx1"/>
                </a:solidFill>
              </a:rPr>
              <a:t> gen pada </a:t>
            </a:r>
            <a:r>
              <a:rPr lang="en-GB" sz="1200" dirty="0" err="1">
                <a:solidFill>
                  <a:schemeClr val="tx1"/>
                </a:solidFill>
              </a:rPr>
              <a:t>bakteri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dapat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dilakukan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dengan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metode</a:t>
            </a:r>
            <a:r>
              <a:rPr lang="en-GB" sz="1200" dirty="0">
                <a:solidFill>
                  <a:schemeClr val="tx1"/>
                </a:solidFill>
              </a:rPr>
              <a:t> Deep Leaning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9682F0-7890-4D9C-92CD-AA630E933B42}"/>
              </a:ext>
            </a:extLst>
          </p:cNvPr>
          <p:cNvSpPr/>
          <p:nvPr/>
        </p:nvSpPr>
        <p:spPr>
          <a:xfrm>
            <a:off x="3199840" y="4243255"/>
            <a:ext cx="2954215" cy="16755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GB" sz="1200" dirty="0" err="1">
                <a:solidFill>
                  <a:schemeClr val="tx1"/>
                </a:solidFill>
              </a:rPr>
              <a:t>Kondisi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pendukung</a:t>
            </a:r>
            <a:r>
              <a:rPr lang="en-GB" sz="1200" dirty="0">
                <a:solidFill>
                  <a:schemeClr val="tx1"/>
                </a:solidFill>
              </a:rPr>
              <a:t>: (1) Data </a:t>
            </a:r>
            <a:r>
              <a:rPr lang="en-GB" sz="1200" dirty="0" err="1">
                <a:solidFill>
                  <a:schemeClr val="tx1"/>
                </a:solidFill>
              </a:rPr>
              <a:t>genetik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bakteri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mudah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didapat</a:t>
            </a:r>
            <a:r>
              <a:rPr lang="en-GB" sz="1200" dirty="0">
                <a:solidFill>
                  <a:schemeClr val="tx1"/>
                </a:solidFill>
              </a:rPr>
              <a:t>; (2) </a:t>
            </a:r>
            <a:r>
              <a:rPr lang="en-GB" sz="1200" dirty="0" err="1">
                <a:solidFill>
                  <a:schemeClr val="tx1"/>
                </a:solidFill>
              </a:rPr>
              <a:t>modul</a:t>
            </a:r>
            <a:r>
              <a:rPr lang="en-GB" sz="1200" dirty="0">
                <a:solidFill>
                  <a:schemeClr val="tx1"/>
                </a:solidFill>
              </a:rPr>
              <a:t> library BERT dan deep learning </a:t>
            </a:r>
            <a:r>
              <a:rPr lang="en-GB" sz="1200" dirty="0" err="1">
                <a:solidFill>
                  <a:schemeClr val="tx1"/>
                </a:solidFill>
              </a:rPr>
              <a:t>lainnya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mudah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diakses</a:t>
            </a:r>
            <a:r>
              <a:rPr lang="en-GB" sz="1200" dirty="0">
                <a:solidFill>
                  <a:schemeClr val="tx1"/>
                </a:solidFill>
              </a:rPr>
              <a:t> dan </a:t>
            </a:r>
            <a:r>
              <a:rPr lang="en-GB" sz="1200" dirty="0" err="1">
                <a:solidFill>
                  <a:schemeClr val="tx1"/>
                </a:solidFill>
              </a:rPr>
              <a:t>dipraktekkan</a:t>
            </a:r>
            <a:r>
              <a:rPr lang="en-GB" sz="1200" dirty="0">
                <a:solidFill>
                  <a:schemeClr val="tx1"/>
                </a:solidFill>
              </a:rPr>
              <a:t> pada laptop </a:t>
            </a:r>
            <a:r>
              <a:rPr lang="en-GB" sz="1200" dirty="0" err="1">
                <a:solidFill>
                  <a:schemeClr val="tx1"/>
                </a:solidFill>
              </a:rPr>
              <a:t>tanpa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harus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menggunakan</a:t>
            </a:r>
            <a:r>
              <a:rPr lang="en-GB" sz="1200" dirty="0">
                <a:solidFill>
                  <a:schemeClr val="tx1"/>
                </a:solidFill>
              </a:rPr>
              <a:t> supercomputer; (3) </a:t>
            </a:r>
            <a:r>
              <a:rPr lang="en-GB" sz="1200" dirty="0" err="1">
                <a:solidFill>
                  <a:schemeClr val="tx1"/>
                </a:solidFill>
              </a:rPr>
              <a:t>dokumentasi</a:t>
            </a:r>
            <a:r>
              <a:rPr lang="en-GB" sz="1200" dirty="0">
                <a:solidFill>
                  <a:schemeClr val="tx1"/>
                </a:solidFill>
              </a:rPr>
              <a:t> model BERT dan model-model </a:t>
            </a:r>
            <a:r>
              <a:rPr lang="en-GB" sz="1200" dirty="0" err="1">
                <a:solidFill>
                  <a:schemeClr val="tx1"/>
                </a:solidFill>
              </a:rPr>
              <a:t>lainnya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dapat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diakses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dengan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bebas</a:t>
            </a:r>
            <a:r>
              <a:rPr lang="en-GB" sz="1200" dirty="0">
                <a:solidFill>
                  <a:schemeClr val="tx1"/>
                </a:solidFill>
              </a:rPr>
              <a:t>;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94E51F-927B-4977-B918-7AB9FB5F6D06}"/>
              </a:ext>
            </a:extLst>
          </p:cNvPr>
          <p:cNvSpPr/>
          <p:nvPr/>
        </p:nvSpPr>
        <p:spPr>
          <a:xfrm>
            <a:off x="122814" y="1483586"/>
            <a:ext cx="2751013" cy="914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GB" sz="1200" dirty="0" err="1">
                <a:solidFill>
                  <a:schemeClr val="tx1"/>
                </a:solidFill>
              </a:rPr>
              <a:t>Masalah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Umum</a:t>
            </a:r>
            <a:r>
              <a:rPr lang="en-GB" sz="1200" dirty="0">
                <a:solidFill>
                  <a:schemeClr val="tx1"/>
                </a:solidFill>
              </a:rPr>
              <a:t>: (1) </a:t>
            </a:r>
            <a:r>
              <a:rPr lang="en-GB" sz="1200" dirty="0" err="1">
                <a:solidFill>
                  <a:schemeClr val="tx1"/>
                </a:solidFill>
              </a:rPr>
              <a:t>Kelimpahan</a:t>
            </a:r>
            <a:r>
              <a:rPr lang="en-GB" sz="1200" dirty="0">
                <a:solidFill>
                  <a:schemeClr val="tx1"/>
                </a:solidFill>
              </a:rPr>
              <a:t> Data </a:t>
            </a:r>
            <a:r>
              <a:rPr lang="en-GB" sz="1200" dirty="0" err="1">
                <a:solidFill>
                  <a:schemeClr val="tx1"/>
                </a:solidFill>
              </a:rPr>
              <a:t>Genetik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dari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berbagai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spesies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Bakteri</a:t>
            </a:r>
            <a:r>
              <a:rPr lang="en-GB" sz="1200" dirty="0">
                <a:solidFill>
                  <a:schemeClr val="tx1"/>
                </a:solidFill>
              </a:rPr>
              <a:t>; (2) </a:t>
            </a:r>
            <a:r>
              <a:rPr lang="en-GB" sz="1200" dirty="0" err="1">
                <a:solidFill>
                  <a:schemeClr val="tx1"/>
                </a:solidFill>
              </a:rPr>
              <a:t>Tiap-tiap</a:t>
            </a:r>
            <a:r>
              <a:rPr lang="en-GB" sz="1200" dirty="0">
                <a:solidFill>
                  <a:schemeClr val="tx1"/>
                </a:solidFill>
              </a:rPr>
              <a:t> data </a:t>
            </a:r>
            <a:r>
              <a:rPr lang="en-GB" sz="1200" dirty="0" err="1">
                <a:solidFill>
                  <a:schemeClr val="tx1"/>
                </a:solidFill>
              </a:rPr>
              <a:t>genetik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bakteri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diolah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dengan</a:t>
            </a:r>
            <a:r>
              <a:rPr lang="en-GB" sz="1200" dirty="0">
                <a:solidFill>
                  <a:schemeClr val="tx1"/>
                </a:solidFill>
              </a:rPr>
              <a:t> model yang </a:t>
            </a:r>
            <a:r>
              <a:rPr lang="en-GB" sz="1200" dirty="0" err="1">
                <a:solidFill>
                  <a:schemeClr val="tx1"/>
                </a:solidFill>
              </a:rPr>
              <a:t>berbeda-beda</a:t>
            </a:r>
            <a:r>
              <a:rPr lang="en-GB" sz="1200" dirty="0">
                <a:solidFill>
                  <a:schemeClr val="tx1"/>
                </a:solidFill>
              </a:rPr>
              <a:t>.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F7007E-0CEE-4D5B-A561-33BDE7D6B874}"/>
              </a:ext>
            </a:extLst>
          </p:cNvPr>
          <p:cNvSpPr/>
          <p:nvPr/>
        </p:nvSpPr>
        <p:spPr>
          <a:xfrm>
            <a:off x="122813" y="4243732"/>
            <a:ext cx="2751013" cy="914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GB" sz="1200" dirty="0" err="1">
                <a:solidFill>
                  <a:schemeClr val="tx1"/>
                </a:solidFill>
              </a:rPr>
              <a:t>Masalah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Khusus</a:t>
            </a:r>
            <a:r>
              <a:rPr lang="en-GB" sz="1200" dirty="0">
                <a:solidFill>
                  <a:schemeClr val="tx1"/>
                </a:solidFill>
              </a:rPr>
              <a:t>: (1) </a:t>
            </a:r>
            <a:r>
              <a:rPr lang="en-GB" sz="1200" dirty="0" err="1">
                <a:solidFill>
                  <a:schemeClr val="tx1"/>
                </a:solidFill>
              </a:rPr>
              <a:t>Tidak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ada</a:t>
            </a:r>
            <a:r>
              <a:rPr lang="en-GB" sz="1200" dirty="0">
                <a:solidFill>
                  <a:schemeClr val="tx1"/>
                </a:solidFill>
              </a:rPr>
              <a:t> model </a:t>
            </a:r>
            <a:r>
              <a:rPr lang="en-GB" sz="1200" dirty="0" err="1">
                <a:solidFill>
                  <a:schemeClr val="tx1"/>
                </a:solidFill>
              </a:rPr>
              <a:t>generik</a:t>
            </a:r>
            <a:r>
              <a:rPr lang="en-GB" sz="1200" dirty="0">
                <a:solidFill>
                  <a:schemeClr val="tx1"/>
                </a:solidFill>
              </a:rPr>
              <a:t> yang </a:t>
            </a:r>
            <a:r>
              <a:rPr lang="en-GB" sz="1200" dirty="0" err="1">
                <a:solidFill>
                  <a:schemeClr val="tx1"/>
                </a:solidFill>
              </a:rPr>
              <a:t>dapat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memproses</a:t>
            </a:r>
            <a:r>
              <a:rPr lang="en-GB" sz="1200" dirty="0">
                <a:solidFill>
                  <a:schemeClr val="tx1"/>
                </a:solidFill>
              </a:rPr>
              <a:t> data DNA </a:t>
            </a:r>
            <a:r>
              <a:rPr lang="en-GB" sz="1200" dirty="0" err="1">
                <a:solidFill>
                  <a:schemeClr val="tx1"/>
                </a:solidFill>
              </a:rPr>
              <a:t>bakteri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secara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umum</a:t>
            </a:r>
            <a:r>
              <a:rPr lang="en-GB" sz="1200" dirty="0">
                <a:solidFill>
                  <a:schemeClr val="tx1"/>
                </a:solidFill>
              </a:rPr>
              <a:t>. 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D5EA4E1-D5E1-4A6C-BDFC-037AE1C9F80D}"/>
              </a:ext>
            </a:extLst>
          </p:cNvPr>
          <p:cNvSpPr/>
          <p:nvPr/>
        </p:nvSpPr>
        <p:spPr>
          <a:xfrm>
            <a:off x="6842930" y="370227"/>
            <a:ext cx="2889457" cy="20602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GB" sz="1200" dirty="0" err="1">
                <a:solidFill>
                  <a:schemeClr val="tx1"/>
                </a:solidFill>
              </a:rPr>
              <a:t>Hipotesa</a:t>
            </a:r>
            <a:r>
              <a:rPr lang="en-GB" sz="1200" dirty="0">
                <a:solidFill>
                  <a:schemeClr val="tx1"/>
                </a:solidFill>
                <a:sym typeface="Wingdings" panose="05000000000000000000" pitchFamily="2" charset="2"/>
              </a:rPr>
              <a:t>: (1) DNA </a:t>
            </a:r>
            <a:r>
              <a:rPr lang="en-GB" sz="1200" dirty="0" err="1">
                <a:solidFill>
                  <a:schemeClr val="tx1"/>
                </a:solidFill>
                <a:sym typeface="Wingdings" panose="05000000000000000000" pitchFamily="2" charset="2"/>
              </a:rPr>
              <a:t>bakteri</a:t>
            </a:r>
            <a:r>
              <a:rPr lang="en-GB" sz="120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GB" sz="1200" dirty="0" err="1">
                <a:solidFill>
                  <a:schemeClr val="tx1"/>
                </a:solidFill>
                <a:sym typeface="Wingdings" panose="05000000000000000000" pitchFamily="2" charset="2"/>
              </a:rPr>
              <a:t>memiliki</a:t>
            </a:r>
            <a:r>
              <a:rPr lang="en-GB" sz="120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GB" sz="1200" dirty="0" err="1">
                <a:solidFill>
                  <a:schemeClr val="tx1"/>
                </a:solidFill>
                <a:sym typeface="Wingdings" panose="05000000000000000000" pitchFamily="2" charset="2"/>
              </a:rPr>
              <a:t>struktur</a:t>
            </a:r>
            <a:r>
              <a:rPr lang="en-GB" sz="1200" dirty="0">
                <a:solidFill>
                  <a:schemeClr val="tx1"/>
                </a:solidFill>
                <a:sym typeface="Wingdings" panose="05000000000000000000" pitchFamily="2" charset="2"/>
              </a:rPr>
              <a:t> yang </a:t>
            </a:r>
            <a:r>
              <a:rPr lang="en-GB" sz="1200" dirty="0" err="1">
                <a:solidFill>
                  <a:schemeClr val="tx1"/>
                </a:solidFill>
                <a:sym typeface="Wingdings" panose="05000000000000000000" pitchFamily="2" charset="2"/>
              </a:rPr>
              <a:t>lebih</a:t>
            </a:r>
            <a:r>
              <a:rPr lang="en-GB" sz="120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GB" sz="1200" dirty="0" err="1">
                <a:solidFill>
                  <a:schemeClr val="tx1"/>
                </a:solidFill>
                <a:sym typeface="Wingdings" panose="05000000000000000000" pitchFamily="2" charset="2"/>
              </a:rPr>
              <a:t>sederhana</a:t>
            </a:r>
            <a:r>
              <a:rPr lang="en-GB" sz="120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GB" sz="1200" dirty="0" err="1">
                <a:solidFill>
                  <a:schemeClr val="tx1"/>
                </a:solidFill>
                <a:sym typeface="Wingdings" panose="05000000000000000000" pitchFamily="2" charset="2"/>
              </a:rPr>
              <a:t>dari</a:t>
            </a:r>
            <a:r>
              <a:rPr lang="en-GB" sz="1200" dirty="0">
                <a:solidFill>
                  <a:schemeClr val="tx1"/>
                </a:solidFill>
                <a:sym typeface="Wingdings" panose="05000000000000000000" pitchFamily="2" charset="2"/>
              </a:rPr>
              <a:t> DNA </a:t>
            </a:r>
            <a:r>
              <a:rPr lang="en-GB" sz="1200" dirty="0" err="1">
                <a:solidFill>
                  <a:schemeClr val="tx1"/>
                </a:solidFill>
                <a:sym typeface="Wingdings" panose="05000000000000000000" pitchFamily="2" charset="2"/>
              </a:rPr>
              <a:t>manusia</a:t>
            </a:r>
            <a:r>
              <a:rPr lang="en-GB" sz="1200" dirty="0">
                <a:solidFill>
                  <a:schemeClr val="tx1"/>
                </a:solidFill>
                <a:sym typeface="Wingdings" panose="05000000000000000000" pitchFamily="2" charset="2"/>
              </a:rPr>
              <a:t>/</a:t>
            </a:r>
            <a:r>
              <a:rPr lang="en-GB" sz="1200" dirty="0" err="1">
                <a:solidFill>
                  <a:schemeClr val="tx1"/>
                </a:solidFill>
                <a:sym typeface="Wingdings" panose="05000000000000000000" pitchFamily="2" charset="2"/>
              </a:rPr>
              <a:t>tikus</a:t>
            </a:r>
            <a:r>
              <a:rPr lang="en-GB" sz="120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GB" sz="1200" dirty="0" err="1">
                <a:solidFill>
                  <a:schemeClr val="tx1"/>
                </a:solidFill>
                <a:sym typeface="Wingdings" panose="05000000000000000000" pitchFamily="2" charset="2"/>
              </a:rPr>
              <a:t>sehingga</a:t>
            </a:r>
            <a:r>
              <a:rPr lang="en-GB" sz="120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GB" sz="1200" dirty="0" err="1">
                <a:solidFill>
                  <a:schemeClr val="tx1"/>
                </a:solidFill>
                <a:sym typeface="Wingdings" panose="05000000000000000000" pitchFamily="2" charset="2"/>
              </a:rPr>
              <a:t>dapat</a:t>
            </a:r>
            <a:r>
              <a:rPr lang="en-GB" sz="1200" dirty="0">
                <a:solidFill>
                  <a:schemeClr val="tx1"/>
                </a:solidFill>
                <a:sym typeface="Wingdings" panose="05000000000000000000" pitchFamily="2" charset="2"/>
              </a:rPr>
              <a:t> juga </a:t>
            </a:r>
            <a:r>
              <a:rPr lang="en-GB" sz="1200" dirty="0" err="1">
                <a:solidFill>
                  <a:schemeClr val="tx1"/>
                </a:solidFill>
                <a:sym typeface="Wingdings" panose="05000000000000000000" pitchFamily="2" charset="2"/>
              </a:rPr>
              <a:t>diproses</a:t>
            </a:r>
            <a:r>
              <a:rPr lang="en-GB" sz="120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GB" sz="1200" dirty="0" err="1">
                <a:solidFill>
                  <a:schemeClr val="tx1"/>
                </a:solidFill>
                <a:sym typeface="Wingdings" panose="05000000000000000000" pitchFamily="2" charset="2"/>
              </a:rPr>
              <a:t>dengan</a:t>
            </a:r>
            <a:r>
              <a:rPr lang="en-GB" sz="1200" dirty="0">
                <a:solidFill>
                  <a:schemeClr val="tx1"/>
                </a:solidFill>
                <a:sym typeface="Wingdings" panose="05000000000000000000" pitchFamily="2" charset="2"/>
              </a:rPr>
              <a:t> DNABERT; (2) </a:t>
            </a:r>
            <a:r>
              <a:rPr lang="en-GB" sz="1200" dirty="0" err="1">
                <a:solidFill>
                  <a:schemeClr val="tx1"/>
                </a:solidFill>
                <a:sym typeface="Wingdings" panose="05000000000000000000" pitchFamily="2" charset="2"/>
              </a:rPr>
              <a:t>Sesama</a:t>
            </a:r>
            <a:r>
              <a:rPr lang="en-GB" sz="120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GB" sz="1200" dirty="0" err="1">
                <a:solidFill>
                  <a:schemeClr val="tx1"/>
                </a:solidFill>
                <a:sym typeface="Wingdings" panose="05000000000000000000" pitchFamily="2" charset="2"/>
              </a:rPr>
              <a:t>bakteri</a:t>
            </a:r>
            <a:r>
              <a:rPr lang="en-GB" sz="120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GB" sz="1200" dirty="0" err="1">
                <a:solidFill>
                  <a:schemeClr val="tx1"/>
                </a:solidFill>
                <a:sym typeface="Wingdings" panose="05000000000000000000" pitchFamily="2" charset="2"/>
              </a:rPr>
              <a:t>memiliki</a:t>
            </a:r>
            <a:r>
              <a:rPr lang="en-GB" sz="120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GB" sz="1200" dirty="0" err="1">
                <a:solidFill>
                  <a:schemeClr val="tx1"/>
                </a:solidFill>
                <a:sym typeface="Wingdings" panose="05000000000000000000" pitchFamily="2" charset="2"/>
              </a:rPr>
              <a:t>karakteristik</a:t>
            </a:r>
            <a:r>
              <a:rPr lang="en-GB" sz="1200" dirty="0">
                <a:solidFill>
                  <a:schemeClr val="tx1"/>
                </a:solidFill>
                <a:sym typeface="Wingdings" panose="05000000000000000000" pitchFamily="2" charset="2"/>
              </a:rPr>
              <a:t> DNA yang </a:t>
            </a:r>
            <a:r>
              <a:rPr lang="en-GB" sz="1200" dirty="0" err="1">
                <a:solidFill>
                  <a:schemeClr val="tx1"/>
                </a:solidFill>
                <a:sym typeface="Wingdings" panose="05000000000000000000" pitchFamily="2" charset="2"/>
              </a:rPr>
              <a:t>mirip</a:t>
            </a:r>
            <a:r>
              <a:rPr lang="en-GB" sz="120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GB" sz="1200" dirty="0" err="1">
                <a:solidFill>
                  <a:schemeClr val="tx1"/>
                </a:solidFill>
                <a:sym typeface="Wingdings" panose="05000000000000000000" pitchFamily="2" charset="2"/>
              </a:rPr>
              <a:t>sehingga</a:t>
            </a:r>
            <a:r>
              <a:rPr lang="en-GB" sz="120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GB" sz="1200" dirty="0" err="1">
                <a:solidFill>
                  <a:schemeClr val="tx1"/>
                </a:solidFill>
                <a:sym typeface="Wingdings" panose="05000000000000000000" pitchFamily="2" charset="2"/>
              </a:rPr>
              <a:t>dapat</a:t>
            </a:r>
            <a:r>
              <a:rPr lang="en-GB" sz="120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GB" sz="1200" dirty="0" err="1">
                <a:solidFill>
                  <a:schemeClr val="tx1"/>
                </a:solidFill>
                <a:sym typeface="Wingdings" panose="05000000000000000000" pitchFamily="2" charset="2"/>
              </a:rPr>
              <a:t>dibentuk</a:t>
            </a:r>
            <a:r>
              <a:rPr lang="en-GB" sz="1200" dirty="0">
                <a:solidFill>
                  <a:schemeClr val="tx1"/>
                </a:solidFill>
                <a:sym typeface="Wingdings" panose="05000000000000000000" pitchFamily="2" charset="2"/>
              </a:rPr>
              <a:t> model </a:t>
            </a:r>
            <a:r>
              <a:rPr lang="en-GB" sz="1200" dirty="0" err="1">
                <a:solidFill>
                  <a:schemeClr val="tx1"/>
                </a:solidFill>
                <a:sym typeface="Wingdings" panose="05000000000000000000" pitchFamily="2" charset="2"/>
              </a:rPr>
              <a:t>generik</a:t>
            </a:r>
            <a:r>
              <a:rPr lang="en-GB" sz="1200" dirty="0">
                <a:solidFill>
                  <a:schemeClr val="tx1"/>
                </a:solidFill>
                <a:sym typeface="Wingdings" panose="05000000000000000000" pitchFamily="2" charset="2"/>
              </a:rPr>
              <a:t> yang </a:t>
            </a:r>
            <a:r>
              <a:rPr lang="en-GB" sz="1200" dirty="0" err="1">
                <a:solidFill>
                  <a:schemeClr val="tx1"/>
                </a:solidFill>
                <a:sym typeface="Wingdings" panose="05000000000000000000" pitchFamily="2" charset="2"/>
              </a:rPr>
              <a:t>berlaku</a:t>
            </a:r>
            <a:r>
              <a:rPr lang="en-GB" sz="120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GB" sz="1200" dirty="0" err="1">
                <a:solidFill>
                  <a:schemeClr val="tx1"/>
                </a:solidFill>
                <a:sym typeface="Wingdings" panose="05000000000000000000" pitchFamily="2" charset="2"/>
              </a:rPr>
              <a:t>untuk</a:t>
            </a:r>
            <a:r>
              <a:rPr lang="en-GB" sz="120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GB" sz="1200" dirty="0" err="1">
                <a:solidFill>
                  <a:schemeClr val="tx1"/>
                </a:solidFill>
                <a:sym typeface="Wingdings" panose="05000000000000000000" pitchFamily="2" charset="2"/>
              </a:rPr>
              <a:t>semua</a:t>
            </a:r>
            <a:r>
              <a:rPr lang="en-GB" sz="120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GB" sz="1200" dirty="0" err="1">
                <a:solidFill>
                  <a:schemeClr val="tx1"/>
                </a:solidFill>
                <a:sym typeface="Wingdings" panose="05000000000000000000" pitchFamily="2" charset="2"/>
              </a:rPr>
              <a:t>bakteri</a:t>
            </a:r>
            <a:r>
              <a:rPr lang="en-GB" sz="1200" dirty="0">
                <a:solidFill>
                  <a:schemeClr val="tx1"/>
                </a:solidFill>
                <a:sym typeface="Wingdings" panose="05000000000000000000" pitchFamily="2" charset="2"/>
              </a:rPr>
              <a:t>; (3) model BERT </a:t>
            </a:r>
            <a:r>
              <a:rPr lang="en-GB" sz="1200" dirty="0" err="1">
                <a:solidFill>
                  <a:schemeClr val="tx1"/>
                </a:solidFill>
                <a:sym typeface="Wingdings" panose="05000000000000000000" pitchFamily="2" charset="2"/>
              </a:rPr>
              <a:t>terbukti</a:t>
            </a:r>
            <a:r>
              <a:rPr lang="en-GB" sz="120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GB" sz="1200" dirty="0" err="1">
                <a:solidFill>
                  <a:schemeClr val="tx1"/>
                </a:solidFill>
                <a:sym typeface="Wingdings" panose="05000000000000000000" pitchFamily="2" charset="2"/>
              </a:rPr>
              <a:t>dapat</a:t>
            </a:r>
            <a:r>
              <a:rPr lang="en-GB" sz="120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GB" sz="1200" dirty="0" err="1">
                <a:solidFill>
                  <a:schemeClr val="tx1"/>
                </a:solidFill>
                <a:sym typeface="Wingdings" panose="05000000000000000000" pitchFamily="2" charset="2"/>
              </a:rPr>
              <a:t>menghasilkan</a:t>
            </a:r>
            <a:r>
              <a:rPr lang="en-GB" sz="1200" dirty="0">
                <a:solidFill>
                  <a:schemeClr val="tx1"/>
                </a:solidFill>
                <a:sym typeface="Wingdings" panose="05000000000000000000" pitchFamily="2" charset="2"/>
              </a:rPr>
              <a:t> model </a:t>
            </a:r>
            <a:r>
              <a:rPr lang="en-GB" sz="1200" dirty="0" err="1">
                <a:solidFill>
                  <a:schemeClr val="tx1"/>
                </a:solidFill>
                <a:sym typeface="Wingdings" panose="05000000000000000000" pitchFamily="2" charset="2"/>
              </a:rPr>
              <a:t>generik</a:t>
            </a:r>
            <a:r>
              <a:rPr lang="en-GB" sz="120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GB" sz="1200" dirty="0" err="1">
                <a:solidFill>
                  <a:schemeClr val="tx1"/>
                </a:solidFill>
                <a:sym typeface="Wingdings" panose="05000000000000000000" pitchFamily="2" charset="2"/>
              </a:rPr>
              <a:t>untuk</a:t>
            </a:r>
            <a:r>
              <a:rPr lang="en-GB" sz="120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GB" sz="1200" dirty="0" err="1">
                <a:solidFill>
                  <a:schemeClr val="tx1"/>
                </a:solidFill>
                <a:sym typeface="Wingdings" panose="05000000000000000000" pitchFamily="2" charset="2"/>
              </a:rPr>
              <a:t>pemrosesan</a:t>
            </a:r>
            <a:r>
              <a:rPr lang="en-GB" sz="120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GB" sz="1200" dirty="0" err="1">
                <a:solidFill>
                  <a:schemeClr val="tx1"/>
                </a:solidFill>
                <a:sym typeface="Wingdings" panose="05000000000000000000" pitchFamily="2" charset="2"/>
              </a:rPr>
              <a:t>bahasa</a:t>
            </a:r>
            <a:r>
              <a:rPr lang="en-GB" sz="1200" dirty="0">
                <a:solidFill>
                  <a:schemeClr val="tx1"/>
                </a:solidFill>
                <a:sym typeface="Wingdings" panose="05000000000000000000" pitchFamily="2" charset="2"/>
              </a:rPr>
              <a:t>.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BC695B2-9F4E-4FAA-82D7-F3F68154C59E}"/>
              </a:ext>
            </a:extLst>
          </p:cNvPr>
          <p:cNvCxnSpPr>
            <a:stCxn id="11" idx="2"/>
            <a:endCxn id="7" idx="1"/>
          </p:cNvCxnSpPr>
          <p:nvPr/>
        </p:nvCxnSpPr>
        <p:spPr>
          <a:xfrm>
            <a:off x="1498321" y="2397986"/>
            <a:ext cx="2137506" cy="4463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0FD5F9C-F906-4B49-A0FA-4EBC2A1FFA1B}"/>
              </a:ext>
            </a:extLst>
          </p:cNvPr>
          <p:cNvCxnSpPr>
            <a:stCxn id="12" idx="0"/>
            <a:endCxn id="7" idx="3"/>
          </p:cNvCxnSpPr>
          <p:nvPr/>
        </p:nvCxnSpPr>
        <p:spPr>
          <a:xfrm flipV="1">
            <a:off x="1498320" y="3693112"/>
            <a:ext cx="2137507" cy="5506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6B2D2E1-51E0-4220-A767-E3FBFCD9558B}"/>
              </a:ext>
            </a:extLst>
          </p:cNvPr>
          <p:cNvCxnSpPr>
            <a:cxnSpLocks/>
            <a:stCxn id="9" idx="2"/>
            <a:endCxn id="7" idx="0"/>
          </p:cNvCxnSpPr>
          <p:nvPr/>
        </p:nvCxnSpPr>
        <p:spPr>
          <a:xfrm>
            <a:off x="4676948" y="1944914"/>
            <a:ext cx="3352" cy="7236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1A50029-4CF7-4396-AA81-2D1BA9A28449}"/>
              </a:ext>
            </a:extLst>
          </p:cNvPr>
          <p:cNvCxnSpPr>
            <a:cxnSpLocks/>
            <a:stCxn id="10" idx="0"/>
            <a:endCxn id="7" idx="4"/>
          </p:cNvCxnSpPr>
          <p:nvPr/>
        </p:nvCxnSpPr>
        <p:spPr>
          <a:xfrm flipV="1">
            <a:off x="4676948" y="3868896"/>
            <a:ext cx="3352" cy="3743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9DC6B08-1CEB-4BFE-BF9B-A8EB3EA3792C}"/>
              </a:ext>
            </a:extLst>
          </p:cNvPr>
          <p:cNvCxnSpPr>
            <a:cxnSpLocks/>
            <a:stCxn id="7" idx="6"/>
            <a:endCxn id="8" idx="1"/>
          </p:cNvCxnSpPr>
          <p:nvPr/>
        </p:nvCxnSpPr>
        <p:spPr>
          <a:xfrm flipV="1">
            <a:off x="6157407" y="3268731"/>
            <a:ext cx="68552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8AFC4FA-BD24-48F4-B24B-7E8E54CADAE6}"/>
              </a:ext>
            </a:extLst>
          </p:cNvPr>
          <p:cNvCxnSpPr>
            <a:cxnSpLocks/>
            <a:stCxn id="13" idx="1"/>
            <a:endCxn id="7" idx="7"/>
          </p:cNvCxnSpPr>
          <p:nvPr/>
        </p:nvCxnSpPr>
        <p:spPr>
          <a:xfrm flipH="1">
            <a:off x="5724772" y="1400349"/>
            <a:ext cx="1118158" cy="14440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B14122FC-1F7A-411B-A1A6-2C611C76EF25}"/>
              </a:ext>
            </a:extLst>
          </p:cNvPr>
          <p:cNvSpPr/>
          <p:nvPr/>
        </p:nvSpPr>
        <p:spPr>
          <a:xfrm>
            <a:off x="6842930" y="4225361"/>
            <a:ext cx="2889456" cy="16755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GB" sz="1200" dirty="0">
                <a:solidFill>
                  <a:schemeClr val="tx1"/>
                </a:solidFill>
              </a:rPr>
              <a:t>Outcome: (1) </a:t>
            </a:r>
            <a:r>
              <a:rPr lang="en-GB" sz="1200" dirty="0" err="1">
                <a:solidFill>
                  <a:schemeClr val="tx1"/>
                </a:solidFill>
              </a:rPr>
              <a:t>memproses</a:t>
            </a:r>
            <a:r>
              <a:rPr lang="en-GB" sz="1200" dirty="0">
                <a:solidFill>
                  <a:schemeClr val="tx1"/>
                </a:solidFill>
              </a:rPr>
              <a:t> DNA </a:t>
            </a:r>
            <a:r>
              <a:rPr lang="en-GB" sz="1200" dirty="0" err="1">
                <a:solidFill>
                  <a:schemeClr val="tx1"/>
                </a:solidFill>
              </a:rPr>
              <a:t>dari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berbagai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spesies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bakteri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dapat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menggunakan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satu</a:t>
            </a:r>
            <a:r>
              <a:rPr lang="en-GB" sz="1200" dirty="0">
                <a:solidFill>
                  <a:schemeClr val="tx1"/>
                </a:solidFill>
              </a:rPr>
              <a:t> model; (2) </a:t>
            </a:r>
            <a:r>
              <a:rPr lang="en-GB" sz="1200" dirty="0" err="1">
                <a:solidFill>
                  <a:schemeClr val="tx1"/>
                </a:solidFill>
              </a:rPr>
              <a:t>penelitian</a:t>
            </a:r>
            <a:r>
              <a:rPr lang="en-GB" sz="1200" dirty="0">
                <a:solidFill>
                  <a:schemeClr val="tx1"/>
                </a:solidFill>
              </a:rPr>
              <a:t> DNA </a:t>
            </a:r>
            <a:r>
              <a:rPr lang="en-GB" sz="1200" dirty="0" err="1">
                <a:solidFill>
                  <a:schemeClr val="tx1"/>
                </a:solidFill>
              </a:rPr>
              <a:t>berbagai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bakteri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dapat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berlangsung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lebih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cepat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karena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tidak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perlu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membuat</a:t>
            </a:r>
            <a:r>
              <a:rPr lang="en-GB" sz="1200" dirty="0">
                <a:solidFill>
                  <a:schemeClr val="tx1"/>
                </a:solidFill>
              </a:rPr>
              <a:t> model </a:t>
            </a:r>
            <a:r>
              <a:rPr lang="en-GB" sz="1200" dirty="0" err="1">
                <a:solidFill>
                  <a:schemeClr val="tx1"/>
                </a:solidFill>
              </a:rPr>
              <a:t>baru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untuk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spesies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bakteri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baru</a:t>
            </a:r>
            <a:r>
              <a:rPr lang="en-GB" sz="1200" dirty="0">
                <a:solidFill>
                  <a:schemeClr val="tx1"/>
                </a:solidFill>
              </a:rPr>
              <a:t>.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82084E1D-7B6E-4C4C-B377-BCCE1DC67B4C}"/>
              </a:ext>
            </a:extLst>
          </p:cNvPr>
          <p:cNvCxnSpPr>
            <a:cxnSpLocks/>
            <a:stCxn id="8" idx="2"/>
            <a:endCxn id="45" idx="0"/>
          </p:cNvCxnSpPr>
          <p:nvPr/>
        </p:nvCxnSpPr>
        <p:spPr>
          <a:xfrm flipH="1">
            <a:off x="8287658" y="3725931"/>
            <a:ext cx="1" cy="4994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2272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273</Words>
  <Application>Microsoft Office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Anwari Leksono</dc:creator>
  <cp:lastModifiedBy>Muhammad Anwari Leksono</cp:lastModifiedBy>
  <cp:revision>16</cp:revision>
  <dcterms:created xsi:type="dcterms:W3CDTF">2021-10-13T04:04:07Z</dcterms:created>
  <dcterms:modified xsi:type="dcterms:W3CDTF">2021-10-13T05:10:43Z</dcterms:modified>
</cp:coreProperties>
</file>